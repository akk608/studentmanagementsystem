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91440"/>
            <a:ext cx="2286000" cy="22860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457200"/>
            <a:ext cx="1463040" cy="1463040"/>
          </a:xfrm>
          <a:prstGeom prst="ellipse">
            <a:avLst/>
          </a:prstGeom>
          <a:solidFill>
            <a:srgbClr val="0A9396">
              <a:alpha val="40000"/>
            </a:srgbClr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41148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CAIT DEPARTMENT  ·  BIS111 WEB DESIGN AND PROGRAMMING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
</a:t>
            </a:r>
            <a:pPr indent="0" marL="0">
              <a:buNone/>
            </a:pPr>
            <a:r>
              <a:rPr lang="en-US" sz="3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5029200" cy="34747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 — System Development &amp; Presentation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320040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685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Kitonga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032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Yvan Avelino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1463040" cy="3474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17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033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399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 &amp; objectives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23444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34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96596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96596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6596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039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— 7 phases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24028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7180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97180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410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24612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246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97764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97764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97764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4416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logic for all 5 modules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425196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251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96012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9601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9240" y="1033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1399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student, course, enrolment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1234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196596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196596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49240" y="20391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49240" y="2404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 → 3NF normalisation + ERD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55280" y="224028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297180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297180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49240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49240" y="3410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ASP.NET, C#, ADO.NET — 5 modules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55280" y="324612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55280" y="3246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3977640"/>
            <a:ext cx="5486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397764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49240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349240" y="4416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cases + 4 bug fixes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55280" y="4251960"/>
            <a:ext cx="822960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4251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— Project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90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Student Management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93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student info, courses &amp; enrolments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963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across all 5 modules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99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ASP.NET Web Forms + C#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02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 via ADO.NET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164592" cy="16459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050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GitHub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BUILT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536192"/>
            <a:ext cx="393192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3619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8105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393192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1945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2231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46888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system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852928"/>
            <a:ext cx="393192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5292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28895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31272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system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511296"/>
            <a:ext cx="3931920" cy="530352"/>
          </a:xfrm>
          <a:prstGeom prst="rect">
            <a:avLst/>
          </a:prstGeom>
          <a:solidFill>
            <a:srgbClr val="0A2A3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51129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35478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37856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— NEW 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0" y="3639312"/>
            <a:ext cx="914400" cy="2560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169664"/>
            <a:ext cx="3931920" cy="530352"/>
          </a:xfrm>
          <a:prstGeom prst="rect">
            <a:avLst/>
          </a:prstGeom>
          <a:solidFill>
            <a:srgbClr val="0A2A3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16966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👨‍🏫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440680" y="4206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40680" y="44439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— NEW 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4297680"/>
            <a:ext cx="914400" cy="2560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42976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SDLC PLANNING — WATERFALL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8686800" cy="530352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3327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33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9966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23444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objectives, tech stack, timeline &amp; risks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49047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554480"/>
            <a:ext cx="868680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2763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591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182880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(CRUD, search) &amp; non-functional (security, perf)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208483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148840"/>
            <a:ext cx="8686800" cy="530352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2199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1854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242316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ERD, flowcharts, DB design, MVC architecture, UI wireframes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267919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743200"/>
            <a:ext cx="868680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1635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779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01752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frontend, ASP.NET C# backend, ADO.NET,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06240" y="327355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337560"/>
            <a:ext cx="8686800" cy="530352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41071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3374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361188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system &amp; validation testing — errors identified &amp; fixed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386791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931920"/>
            <a:ext cx="8686800" cy="530352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0507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39684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" y="420624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run via Visual Studio + SQL Server, users can access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06240" y="4462272"/>
            <a:ext cx="731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526280"/>
            <a:ext cx="8686800" cy="530352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599432"/>
            <a:ext cx="365760" cy="3657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7240" y="4562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" y="480060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 fixes, performance improvements, new features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0A2A30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Waterfall: each phase is fully documented before the next begins — ensuring planned, testable, quality software.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 REQUIREMENTS — FUNCTIONAL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14800" cy="18288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99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student (name, email, 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282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students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student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114800" cy="18288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960120"/>
            <a:ext cx="411480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99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add new courses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792224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7282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courses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121408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course details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450592"/>
            <a:ext cx="137160" cy="13716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courses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971800"/>
            <a:ext cx="4114800" cy="18288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71800"/>
            <a:ext cx="41148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971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Management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410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a student in a course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enrolments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/ unenrol a student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46227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3982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enrolments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2971800"/>
            <a:ext cx="4114800" cy="18288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2971800"/>
            <a:ext cx="41148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971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Search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3474720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410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null / empty inputs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803904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verification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4133088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069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students or courses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4462272"/>
            <a:ext cx="137160" cy="1371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3982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 REQUIREMENTS — NON-FUNCTIONAL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9601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in 3–5 clicks · success/fail messages · consistent fonts &amp; layout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6596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6596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9659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≤ 3 seconds · search results loaded quickly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7180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97180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9718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29718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 to prevent injection · no sensitive data in errors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97764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97764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977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977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 &amp; constraints · app does not crash on errors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96012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96012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9601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 · semantic HTML · labelled form fields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96596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96596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design pattern · GitHub version control with frequent commits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97180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9718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9718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Chrome, Edge &amp; Firefox · responsive UI across screen sizes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977640"/>
            <a:ext cx="14630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977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977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supports future growth · ready for grades, attendance &amp; student portals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PSEUDO CODE — CRUD OPERATIONS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397764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 — Pseudo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StudentName, StudentEmail
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empty → 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error
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invalid → 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error
</a:t>
            </a:r>
            <a:pPr indent="0" marL="0">
              <a:buNone/>
            </a:pPr>
            <a:r>
              <a:rPr lang="en-US" sz="11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SqlConnection
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exists?
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yes → 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error
</a:t>
            </a:r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INTO Students (Name, Email)
</a:t>
            </a:r>
            <a:pPr indent="0" marL="0">
              <a:buNone/>
            </a:pPr>
            <a:r>
              <a:rPr lang="en-US" sz="11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'Student added'
</a:t>
            </a:r>
            <a:pPr indent="0" marL="0">
              <a:buNone/>
            </a:pPr>
            <a:r>
              <a:rPr lang="en-US" sz="11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SqlConnection
</a:t>
            </a:r>
            <a:pPr indent="0" marL="0">
              <a:buNone/>
            </a:pPr>
            <a:r>
              <a:rPr lang="en-US" sz="1100" b="1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91440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051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students ORDER BY name · SqlDataReader loop · show 'No students found' if empty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920240"/>
            <a:ext cx="914400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2024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ID &amp; name · check student exists in DB · UPDATE name &amp; email WHERE StudentID = @ID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880360"/>
            <a:ext cx="914400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2971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ID · DELETE FROM Enrolments WHERE StudentID (FK) · then DELETE FROM Students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840480"/>
            <a:ext cx="4206240" cy="86868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840480"/>
            <a:ext cx="914400" cy="8686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840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3931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name keyword or ID · SELECT WHERE Name LIKE @Term OR StudentID = @ID · display rows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800600"/>
            <a:ext cx="4206240" cy="182880"/>
          </a:xfrm>
          <a:prstGeom prst="rect">
            <a:avLst/>
          </a:prstGeom>
          <a:solidFill>
            <a:srgbClr val="0A2A30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80060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applied for Course Management &amp; Enrolment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FLOW CHARTS — SYSTEM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14800" cy="192024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11480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System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435608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99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" y="1563624"/>
            <a:ext cx="1828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1691640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550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loads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" y="1819656"/>
            <a:ext cx="1828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1947672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110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module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" y="2075688"/>
            <a:ext cx="1828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2203704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action (CRUD)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" y="2331720"/>
            <a:ext cx="1828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2459736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231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Display result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" y="2587752"/>
            <a:ext cx="18288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2715768"/>
            <a:ext cx="128016" cy="128016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79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114800" cy="192024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1728" y="1435608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3990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 &amp; email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1563624"/>
            <a:ext cx="1828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1691640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6550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18304" y="1819656"/>
            <a:ext cx="1828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1728" y="1947672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9110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email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18304" y="2075688"/>
            <a:ext cx="1828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1728" y="2203704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18304" y="2331720"/>
            <a:ext cx="1828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1728" y="2459736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4231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success or error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3063240"/>
            <a:ext cx="4114800" cy="192024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063240"/>
            <a:ext cx="4114800" cy="3657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38328" y="3538728"/>
            <a:ext cx="128016" cy="128016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502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course code &amp; name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4904" y="3666744"/>
            <a:ext cx="18288" cy="1097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3794760"/>
            <a:ext cx="128016" cy="128016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7581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4904" y="3922776"/>
            <a:ext cx="18288" cy="1097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28" y="4050792"/>
            <a:ext cx="128016" cy="128016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014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code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74904" y="4178808"/>
            <a:ext cx="18288" cy="1097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8328" y="4306824"/>
            <a:ext cx="128016" cy="128016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" y="4434840"/>
            <a:ext cx="18288" cy="10972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8328" y="4562856"/>
            <a:ext cx="128016" cy="128016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526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success or error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3063240"/>
            <a:ext cx="4114800" cy="192024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3063240"/>
            <a:ext cx="4114800" cy="3657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Management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681728" y="3538728"/>
            <a:ext cx="128016" cy="12801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502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student &amp; course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18304" y="3666744"/>
            <a:ext cx="18288" cy="10972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81728" y="3794760"/>
            <a:ext cx="128016" cy="12801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37581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 (default: today)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18304" y="3922776"/>
            <a:ext cx="18288" cy="10972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81728" y="4050792"/>
            <a:ext cx="128016" cy="12801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40142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both exist in DB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718304" y="4178808"/>
            <a:ext cx="18288" cy="10972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81728" y="4306824"/>
            <a:ext cx="128016" cy="12801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9204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enrolment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718304" y="4434840"/>
            <a:ext cx="18288" cy="10972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81728" y="4562856"/>
            <a:ext cx="128016" cy="128016"/>
          </a:xfrm>
          <a:prstGeom prst="ellipse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4526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DELETE enrolment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DATABASE NORMALISATION — UNF → 3NF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&amp; Charles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011680" cy="32004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201168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3075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6459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flat table · Multi-valued cells · No primary key · Repeating groups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331720"/>
            <a:ext cx="164592" cy="731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960120"/>
            <a:ext cx="2011680" cy="32004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960120"/>
            <a:ext cx="201168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04872" y="13075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96312" y="16459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only · One row per student-course pair · Composite PK introduced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16552" y="2331720"/>
            <a:ext cx="164592" cy="731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960120"/>
            <a:ext cx="2011680" cy="32004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960120"/>
            <a:ext cx="2011680" cy="594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81144" y="13075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72584" y="16459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partial dependencies · Students, Courses &amp; Enrolments tables separated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92824" y="2331720"/>
            <a:ext cx="164592" cy="731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7416" y="960120"/>
            <a:ext cx="2011680" cy="32004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960120"/>
            <a:ext cx="2011680" cy="5943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57416" y="130759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48856" y="164592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found · 2NF structure satisfies 3NF · Final: 3 clean tables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297680"/>
            <a:ext cx="8686800" cy="685800"/>
          </a:xfrm>
          <a:prstGeom prst="rect">
            <a:avLst/>
          </a:prstGeom>
          <a:solidFill>
            <a:srgbClr val="0A2A30"/>
          </a:solidFill>
          <a:ln w="6350">
            <a:solidFill>
              <a:srgbClr val="0A939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297680"/>
          <a:ext cx="8686800" cy="685800"/>
        </p:xfrm>
        <a:graphic>
          <a:graphicData uri="http://schemas.openxmlformats.org/drawingml/2006/table">
            <a:tbl>
              <a:tblPr/>
              <a:tblGrid>
                <a:gridCol w="2895600"/>
                <a:gridCol w="2895600"/>
                <a:gridCol w="289560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Addressed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 → 1NF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repeating groups; made values atomic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student-course; composite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 → 2NF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partial dependencies on composite PK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into Students, Courses &amp; Enrolments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 → 3NF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for transitive dependencies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found; 2NF structure satisfies 3NF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ENTITY-RELATIONSHIP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&amp; Charles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1E3A4A"/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5603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 🔑 PK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StudentEmail  UNIQUE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1E3A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71600"/>
            <a:ext cx="256032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EnrolmentID  🔑 PK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 🔗 FK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 🔗 FK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1E3A4A"/>
          </a:solidFill>
          <a:ln w="19050">
            <a:solidFill>
              <a:srgbClr val="EE9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371600"/>
            <a:ext cx="2560320" cy="43891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716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 🔑 PK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  UNIQUE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CourseName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CourseDescription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2468880"/>
            <a:ext cx="292608" cy="731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2468880"/>
            <a:ext cx="292608" cy="7315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06324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076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0A2A30"/>
          </a:solidFill>
          <a:ln w="635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</a:t>
            </a:r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can have many Enrolments  ·  One Course can have many Enrolments  ·  Enrolments resolves the many-to-many between Students and Courses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FINAL DATABASE STRUCTURE (3NF)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&amp; Charles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14800" cy="19659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344168"/>
            <a:ext cx="4114800" cy="256032"/>
          </a:xfrm>
          <a:prstGeom prst="rect">
            <a:avLst/>
          </a:prstGeom>
          <a:solidFill>
            <a:srgbClr val="0A2A30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44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344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344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600200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00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IDENTITY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1865376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65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1865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130552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130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StudentEmail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1305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NVARCHAR(150)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130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960120"/>
            <a:ext cx="4114800" cy="19659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960120"/>
            <a:ext cx="411480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1344168"/>
            <a:ext cx="4114800" cy="256032"/>
          </a:xfrm>
          <a:prstGeom prst="rect">
            <a:avLst/>
          </a:prstGeom>
          <a:solidFill>
            <a:srgbClr val="0A2A30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344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1344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1344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600200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600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1600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IDENTITY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1865376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865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95160" y="1865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2130552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130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CourseName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21305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NVARCHAR(100)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2130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2395728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2395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CourseDescription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NVARCHAR(500)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9516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(optional)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" y="3108960"/>
            <a:ext cx="4114800" cy="19659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310896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28600" y="3493008"/>
            <a:ext cx="4114800" cy="256032"/>
          </a:xfrm>
          <a:prstGeom prst="rect">
            <a:avLst/>
          </a:prstGeom>
          <a:solidFill>
            <a:srgbClr val="0A2A30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4930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00200" y="3493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651760" y="3493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3749040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600200" y="3749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65176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IDENTITY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8600" y="4014216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142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600200" y="40142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651760" y="4014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Students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4279392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600200" y="4279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651760" y="4279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Courses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28600" y="4544568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544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EnrolmentDate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00200" y="4544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651760" y="4544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572000" y="3108960"/>
            <a:ext cx="4114800" cy="1965960"/>
          </a:xfrm>
          <a:prstGeom prst="rect">
            <a:avLst/>
          </a:prstGeom>
          <a:solidFill>
            <a:srgbClr val="1E3A4A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3108960"/>
            <a:ext cx="4114800" cy="38404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0" y="3108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★NEW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572000" y="3493008"/>
            <a:ext cx="4114800" cy="256032"/>
          </a:xfrm>
          <a:prstGeom prst="rect">
            <a:avLst/>
          </a:prstGeom>
          <a:solidFill>
            <a:srgbClr val="0A2A30"/>
          </a:solidFill>
          <a:ln w="3810">
            <a:solidFill>
              <a:srgbClr val="1E3A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17720" y="34930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943600" y="3493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95160" y="34930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572000" y="3749040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17720" y="3749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GradeID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943600" y="3749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99516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IDENTITY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572000" y="4014216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17720" y="40142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EnrolmentID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43600" y="40142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995160" y="40142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Enrolments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572000" y="4279392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17720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GradeValue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943600" y="4279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NVARCHAR(5)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995160" y="4279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572000" y="4544568"/>
            <a:ext cx="4114800" cy="256032"/>
          </a:xfrm>
          <a:prstGeom prst="rect">
            <a:avLst/>
          </a:prstGeom>
          <a:solidFill>
            <a:srgbClr val="1E3A4A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17720" y="4544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GradeDate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943600" y="4544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995160" y="4544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572000" y="4809744"/>
            <a:ext cx="4114800" cy="256032"/>
          </a:xfrm>
          <a:prstGeom prst="rect">
            <a:avLst/>
          </a:prstGeom>
          <a:solidFill>
            <a:srgbClr val="162535"/>
          </a:solidFill>
          <a:ln w="2540">
            <a:solidFill>
              <a:srgbClr val="1E3A4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17720" y="4809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943600" y="48097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NVARCHAR(500)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995160" y="48097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SYSTEM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— Team Leader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664208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307592"/>
            <a:ext cx="1664208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0759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Forms + CSS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84248" y="960120"/>
            <a:ext cx="1664208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9601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84248" y="1307592"/>
            <a:ext cx="1664208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30759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Code-Behind (.NET)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9896" y="960120"/>
            <a:ext cx="1664208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9601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39896" y="1307592"/>
            <a:ext cx="1664208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30759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95544" y="960120"/>
            <a:ext cx="1664208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95544" y="9601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95544" y="1307592"/>
            <a:ext cx="1664208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130759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Connected Mode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51192" y="960120"/>
            <a:ext cx="1664208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9601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Ctrl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51192" y="1307592"/>
            <a:ext cx="1664208" cy="566928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307592"/>
            <a:ext cx="1664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Regular commits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2011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— System Architecture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2423160"/>
            <a:ext cx="8686800" cy="4572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423160"/>
            <a:ext cx="20116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Default.aspx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24231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— 5 navigation cards (Students, Courses, Enrolments, Grades, Lecturers)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2935224"/>
            <a:ext cx="8686800" cy="45720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2935224"/>
            <a:ext cx="20116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935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Students.aspx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31720" y="293522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edit, delete &amp; search students · letters-only validation · duplicate email check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3447288"/>
            <a:ext cx="8686800" cy="45720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447288"/>
            <a:ext cx="20116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Courses.aspx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344728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edit, delete courses · code &amp; name validation · duplicate code prevention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" y="3959352"/>
            <a:ext cx="8686800" cy="457200"/>
          </a:xfrm>
          <a:prstGeom prst="rect">
            <a:avLst/>
          </a:prstGeom>
          <a:solidFill>
            <a:srgbClr val="162535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959352"/>
            <a:ext cx="201168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9593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Enrolments.aspx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39593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students into courses · view + remove enrolments · dropdown selects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4471416"/>
            <a:ext cx="8686800" cy="457200"/>
          </a:xfrm>
          <a:prstGeom prst="rect">
            <a:avLst/>
          </a:prstGeom>
          <a:solidFill>
            <a:srgbClr val="0A2A3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4471416"/>
            <a:ext cx="2011680" cy="457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4714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Grades.aspx 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331720" y="447141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Add, view, edit, delete grades · linked to enrolments · filter by student · auto-date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KEY CODE — ADO.NET CONNECTED MODE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34640" cy="4023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28346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— Connection Pattern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connStr = ConfigurationManager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.ConnectionStrings[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"StudentDB"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].ConnectionString;
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(SqlConnection conn = new SqlConnection(connStr)) {
</a:t>
            </a:r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conn.Open();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CRUD operations here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auto-closes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834640" cy="4023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60120"/>
            <a:ext cx="28346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+ Duplicate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(string.IsNullOrEmpty(name)) {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ShowError(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 is required."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return; }
</a:t>
            </a:r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chk = new SqlCommand(
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COUNT(*) FROM Students WHERE Email=@E"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conn);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chk.Parameters.AddWithValue(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"@E"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email);
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((int)chk.ExecuteScalar() &gt; 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ShowError(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 exists."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return; 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834640" cy="4023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960120"/>
            <a:ext cx="283464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+ Exception Handling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41732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enrolments FIRST (FK constraint)
</a:t>
            </a:r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del1 = new SqlCommand(
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"DELETE FROM Enrolments WHERE StudentID=@ID"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conn);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del1.ExecuteNonQuery();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delete the student
</a:t>
            </a:r>
            <a:pPr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del2 = new SqlCommand(
</a:t>
            </a:r>
            <a:pPr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"DELETE FROM Students WHERE StudentID=@ID"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conn);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del2.ExecuteNonQuery();
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(SqlException ex) { </a:t>
            </a:r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ShowError(ex.Message)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TESTING &amp; DEBUGGING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664208" cy="1005840"/>
          </a:xfrm>
          <a:prstGeom prst="rect">
            <a:avLst/>
          </a:prstGeom>
          <a:solidFill>
            <a:srgbClr val="1E3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55448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84248" y="960120"/>
            <a:ext cx="1664208" cy="1005840"/>
          </a:xfrm>
          <a:prstGeom prst="rect">
            <a:avLst/>
          </a:prstGeom>
          <a:solidFill>
            <a:srgbClr val="1E3A4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1005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84248" y="155448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9896" y="960120"/>
            <a:ext cx="1664208" cy="1005840"/>
          </a:xfrm>
          <a:prstGeom prst="rect">
            <a:avLst/>
          </a:prstGeom>
          <a:solidFill>
            <a:srgbClr val="1E3A4A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005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739896" y="155448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95544" y="960120"/>
            <a:ext cx="1664208" cy="1005840"/>
          </a:xfrm>
          <a:prstGeom prst="rect">
            <a:avLst/>
          </a:prstGeom>
          <a:solidFill>
            <a:srgbClr val="1E3A4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005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95544" y="155448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51192" y="960120"/>
            <a:ext cx="1664208" cy="1005840"/>
          </a:xfrm>
          <a:prstGeom prst="rect">
            <a:avLst/>
          </a:prstGeom>
          <a:solidFill>
            <a:srgbClr val="1E3A4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100584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251192" y="155448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TEST CASES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23160"/>
          <a:ext cx="868680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 — valid name &amp;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added successfully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 — duplicate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email already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 student — valid selections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enrolled successfully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 same student twice (duplicate)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already enrolled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student with existing enrolments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+ enrolments 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9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 loads — 5 nav cards 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cards loaded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9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student workflow: add, edit, 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operations worked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9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student by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students displayed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C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8–9. BUG FIXES &amp; DEPLOYMENT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BUGS IDENTIFIED &amp; RESOLVED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8686800" cy="594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408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 → FK violation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09344"/>
            <a:ext cx="548640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361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4081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Enrolments first, then Students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057400"/>
            <a:ext cx="8686800" cy="594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48840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093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course → FK violation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295144"/>
            <a:ext cx="548640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221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0939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Enrolments first, then Courses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2743200"/>
            <a:ext cx="8686800" cy="594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34640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date → format exception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2980944"/>
            <a:ext cx="548640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9077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7797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DateTime.Today when field is empty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429000"/>
            <a:ext cx="8686800" cy="594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520440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34655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Web.config connection string error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3666744"/>
            <a:ext cx="548640" cy="914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5935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4655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outside &lt;system.web&gt; to correct location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4572000"/>
            <a:ext cx="283464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" y="47914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Forms pages (.aspx) + CSS styling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4572000"/>
            <a:ext cx="283464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47914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code-behind (.aspx.cs) — validation + CRUD + errors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4572000"/>
            <a:ext cx="283464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45720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47914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StudentManagementDB — ADO.NET connected mode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DISCUSSION — ADVANTAGES &amp; DISADVANTAGES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023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Forms + C#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3931920" cy="256032"/>
          </a:xfrm>
          <a:prstGeom prst="rect">
            <a:avLst/>
          </a:prstGeom>
          <a:solidFill>
            <a:srgbClr val="0A3A20"/>
          </a:solidFill>
          <a:ln w="635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1764792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709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 with drag-and-drop controls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2148840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093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event-driven model — easy for beginners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2532888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780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.NET ecosystem and Visual Studio tooling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" y="2916936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862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controls and state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3931920" cy="256032"/>
          </a:xfrm>
          <a:prstGeom prst="rect">
            <a:avLst/>
          </a:prstGeom>
          <a:solidFill>
            <a:srgbClr val="3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Disadvantages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" y="3639312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5844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ViewState adds overhead, slowing page load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" y="4023360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9684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UI/code coupling; harder to unit 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" y="4407408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3525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technology; being superseded by ASP.NET Core MVC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4206240" cy="4023360"/>
          </a:xfrm>
          <a:prstGeom prst="rect">
            <a:avLst/>
          </a:prstGeom>
          <a:solidFill>
            <a:srgbClr val="1E3A4A"/>
          </a:solidFill>
          <a:ln w="6350">
            <a:solidFill>
              <a:srgbClr val="1E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(Connected Mode)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1417320"/>
            <a:ext cx="3931920" cy="256032"/>
          </a:xfrm>
          <a:prstGeom prst="rect">
            <a:avLst/>
          </a:prstGeom>
          <a:solidFill>
            <a:srgbClr val="0A3A20"/>
          </a:solidFill>
          <a:ln w="635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73752" y="1764792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1709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SQL queries and connections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73752" y="2148840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93208" y="20939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prevent SQL injection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73752" y="2532888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93208" y="24780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no ORM overhead for this project scale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73752" y="2916936"/>
            <a:ext cx="128016" cy="128016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93208" y="2862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to learn for SQL-focused development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291840"/>
            <a:ext cx="3931920" cy="256032"/>
          </a:xfrm>
          <a:prstGeom prst="rect">
            <a:avLst/>
          </a:prstGeom>
          <a:solidFill>
            <a:srgbClr val="3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291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Disadvantages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73752" y="3639312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93208" y="35844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boilerplate code than ORMs like Entity Framework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73752" y="4023360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93208" y="39684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connection management; risk of unclosed connections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73752" y="4407408"/>
            <a:ext cx="128016" cy="12801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93208" y="43525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code across CRUD operations without abstraction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64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34640" cy="4023360"/>
          </a:xfrm>
          <a:prstGeom prst="rect">
            <a:avLst/>
          </a:prstGeom>
          <a:solidFill>
            <a:srgbClr val="1E3A4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60120"/>
            <a:ext cx="2834640" cy="7315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1344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+ Grades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1783080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home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2121408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Students page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2459736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459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" y="24414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student (CREATE)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" y="2798064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798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" y="27797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students (READ)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" y="3136392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136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3118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student record (UPDATE)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" y="3474720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474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 (DELETE)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" y="3813048"/>
            <a:ext cx="137160" cy="2011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813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duplicate email error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" y="4151376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" y="41330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Grades page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" y="4489704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4489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4471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grade for enrolment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" y="4828032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828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" y="4809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grades by student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960120"/>
            <a:ext cx="2834640" cy="4023360"/>
          </a:xfrm>
          <a:prstGeom prst="rect">
            <a:avLst/>
          </a:prstGeom>
          <a:solidFill>
            <a:srgbClr val="1E3A4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960120"/>
            <a:ext cx="283464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Kitonga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00400" y="1344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+ Lecturers Module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10128" y="1783080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8444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Courses page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10128" y="2121408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84448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course (CREATE)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10128" y="2459736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2459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584448" y="24414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courses (READ)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10128" y="2798064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0128" y="2798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84448" y="27797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course details (UPDATE)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10128" y="3136392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10128" y="3136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84448" y="3118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course (DELETE)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310128" y="3474720"/>
            <a:ext cx="13716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0128" y="3474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›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584448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duplicate course code error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310128" y="3813048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0128" y="3813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58444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Lecturers page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10128" y="4151376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584448" y="41330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lecturer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10128" y="4489704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10128" y="4489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584448" y="4471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lecturer to course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310128" y="4828032"/>
            <a:ext cx="201168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0128" y="4828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584448" y="4809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assignment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172200" y="960120"/>
            <a:ext cx="2834640" cy="4023360"/>
          </a:xfrm>
          <a:prstGeom prst="rect">
            <a:avLst/>
          </a:prstGeom>
          <a:solidFill>
            <a:srgbClr val="1E3A4A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72200" y="960120"/>
            <a:ext cx="2834640" cy="7315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Avelino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6172200" y="13441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 Module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281928" y="1783080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81928" y="1783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556248" y="1764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Enrolments page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281928" y="2121408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81928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556248" y="2103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a student in a course (CREATE)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81928" y="2459736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81928" y="2459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556248" y="24414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enrolments (READ)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281928" y="2798064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81928" y="27980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556248" y="27797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enrolment (DELETE)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281928" y="3136392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81928" y="3136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556248" y="3118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duplicate enrolment error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281928" y="3474720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81928" y="3474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556248" y="34564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FK cascade on delete student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281928" y="3813048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81928" y="3813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556248" y="37947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enrolments by student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281928" y="4151376"/>
            <a:ext cx="137160" cy="20116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81928" y="4151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›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6556248" y="41330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date auto-fill feature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1828800" cy="1828800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54864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 — BIS111 Assessment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  </a:t>
            </a:r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 Leader — Implementation, Grades Module &amp;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Kitonga  </a:t>
            </a:r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SDLC, Requirements, Database Design &amp; Lecturers Module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Yvan Avelino  </a:t>
            </a:r>
            <a:pPr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Pseudo Code, Flow Charts &amp; Normalisation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737360" cy="1005840"/>
          </a:xfrm>
          <a:prstGeom prst="rect">
            <a:avLst/>
          </a:prstGeom>
          <a:solidFill>
            <a:srgbClr val="1E3A4A"/>
          </a:solidFill>
          <a:ln w="1016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931920"/>
            <a:ext cx="1737360" cy="1005840"/>
          </a:xfrm>
          <a:prstGeom prst="rect">
            <a:avLst/>
          </a:prstGeom>
          <a:solidFill>
            <a:srgbClr val="1E3A4A"/>
          </a:solidFill>
          <a:ln w="1016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977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51760" y="4526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normalised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931920"/>
            <a:ext cx="1737360" cy="1005840"/>
          </a:xfrm>
          <a:prstGeom prst="rect">
            <a:avLst/>
          </a:prstGeom>
          <a:solidFill>
            <a:srgbClr val="1E3A4A"/>
          </a:solidFill>
          <a:ln w="1016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977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4526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3931920"/>
            <a:ext cx="1737360" cy="1005840"/>
          </a:xfrm>
          <a:prstGeom prst="rect">
            <a:avLst/>
          </a:prstGeom>
          <a:solidFill>
            <a:srgbClr val="1E3A4A"/>
          </a:solidFill>
          <a:ln w="1016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977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4526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built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— BIS111 Assessment 3</dc:title>
  <dc:subject>PptxGenJS Presentation</dc:subject>
  <dc:creator>PptxGenJS</dc:creator>
  <cp:lastModifiedBy>PptxGenJS</cp:lastModifiedBy>
  <cp:revision>1</cp:revision>
  <dcterms:created xsi:type="dcterms:W3CDTF">2026-06-03T15:56:50Z</dcterms:created>
  <dcterms:modified xsi:type="dcterms:W3CDTF">2026-06-03T15:56:50Z</dcterms:modified>
</cp:coreProperties>
</file>